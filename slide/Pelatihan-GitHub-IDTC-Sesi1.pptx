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Ingatkan peserta menyalakan laptop dan sudah punya akun GitHub (M2) sebelum sesi dimulai.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waktu ± 100 menit. Sisakan jeda 5-10 menit untuk pertanyaan di setiap dua modul.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Prasyarat: tidak ada. Rujuk manual lengkap di panduan-github/modul/M1-*.md.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Latihan dikerjakan di repo latihan-github, bukan di repo sungguhan.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Prasyarat: modul sebelumnya. Rujuk manual lengkap di panduan-github/modul/M2-*.md.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Latihan dikerjakan di repo latihan-github, bukan di repo sungguhan.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Prasyarat: modul sebelumnya. Rujuk manual lengkap di panduan-github/modul/M3-*.md.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Latihan dikerjakan di repo latihan-github, bukan di repo sungguhan.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Prasyarat: modul sebelumnya. Rujuk manual lengkap di panduan-github/modul/M4-*.md.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Latihan dikerjakan di repo latihan-github, bukan di repo sungguhan.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Prasyarat: modul sebelumnya. Rujuk manual lengkap di panduan-github/modul/M5-*.md.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Latihan dikerjakan di repo latihan-github, bukan di repo sungguhan.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Prasyarat: modul sebelumnya. Rujuk manual lengkap di panduan-github/modul/M9-*.md.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Latihan dikerjakan di repo latihan-github, bukan di repo sungguhan.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737360"/>
            <a:ext cx="5669280" cy="5669280"/>
          </a:xfrm>
          <a:prstGeom prst="ellipse">
            <a:avLst/>
          </a:prstGeom>
          <a:solidFill>
            <a:srgbClr val="1E6FD9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3291840"/>
            <a:ext cx="3840480" cy="3840480"/>
          </a:xfrm>
          <a:prstGeom prst="ellipse">
            <a:avLst/>
          </a:prstGeom>
          <a:solidFill>
            <a:srgbClr val="4FD6E8">
              <a:alpha val="14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DIGITAL TWIN COMMUNITY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Pelatihan GitHub IDTC — Sesi 1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akun sampai bertanya dan mencatat usulan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3832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perlu kemampuan pemrograman — seluruh materi dikerjakan lewat browser.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98932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M1–M5 dan M9  ·  ± 120 menit  ·  Pokja 3 SDM &amp; Ekosistem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sesi ini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998878" cy="4023360"/>
          </a:xfrm>
          <a:prstGeom prst="roundRect">
            <a:avLst>
              <a:gd name="adj" fmla="val 4575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" y="1938528"/>
            <a:ext cx="457200" cy="457200"/>
          </a:xfrm>
          <a:prstGeom prst="ellipse">
            <a:avLst/>
          </a:prstGeom>
          <a:solidFill>
            <a:srgbClr val="1E6FD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77824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2542032"/>
            <a:ext cx="155996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 IDTC Memakai GitHub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5394960"/>
            <a:ext cx="15599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menit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67558" y="1691640"/>
            <a:ext cx="1998878" cy="4023360"/>
          </a:xfrm>
          <a:prstGeom prst="roundRect">
            <a:avLst>
              <a:gd name="adj" fmla="val 4575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05302" y="1938528"/>
            <a:ext cx="457200" cy="457200"/>
          </a:xfrm>
          <a:prstGeom prst="ellipse">
            <a:avLst/>
          </a:prstGeom>
          <a:solidFill>
            <a:srgbClr val="1E6FD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105302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087014" y="2542032"/>
            <a:ext cx="155996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Membuat Akun dan Mengamankannya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087014" y="5394960"/>
            <a:ext cx="15599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menit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95037" y="1691640"/>
            <a:ext cx="1998878" cy="4023360"/>
          </a:xfrm>
          <a:prstGeom prst="roundRect">
            <a:avLst>
              <a:gd name="adj" fmla="val 4575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32781" y="1938528"/>
            <a:ext cx="457200" cy="457200"/>
          </a:xfrm>
          <a:prstGeom prst="ellipse">
            <a:avLst/>
          </a:prstGeom>
          <a:solidFill>
            <a:srgbClr val="1E6F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332781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314493" y="2542032"/>
            <a:ext cx="155996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Menjelajah Repositori IDTC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314493" y="5394960"/>
            <a:ext cx="15599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menit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322515" y="1691640"/>
            <a:ext cx="1998878" cy="4023360"/>
          </a:xfrm>
          <a:prstGeom prst="roundRect">
            <a:avLst>
              <a:gd name="adj" fmla="val 4575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60259" y="1938528"/>
            <a:ext cx="457200" cy="457200"/>
          </a:xfrm>
          <a:prstGeom prst="ellipse">
            <a:avLst/>
          </a:prstGeom>
          <a:solidFill>
            <a:srgbClr val="0F9B8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60259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541971" y="2542032"/>
            <a:ext cx="155996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Bertanya dan Berdiskusi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5394960"/>
            <a:ext cx="15599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menit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549994" y="1691640"/>
            <a:ext cx="1998878" cy="4023360"/>
          </a:xfrm>
          <a:prstGeom prst="roundRect">
            <a:avLst>
              <a:gd name="adj" fmla="val 4575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87738" y="1938528"/>
            <a:ext cx="457200" cy="457200"/>
          </a:xfrm>
          <a:prstGeom prst="ellipse">
            <a:avLst/>
          </a:prstGeom>
          <a:solidFill>
            <a:srgbClr val="0F9B8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787738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769450" y="2542032"/>
            <a:ext cx="155996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Mencatat Tugas dan Usulan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9769450" y="5394960"/>
            <a:ext cx="15599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menit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 IDTC Memakai GitHub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 — Pengamat  ·  15 menit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271516" cy="4160520"/>
          </a:xfrm>
          <a:prstGeom prst="roundRect">
            <a:avLst>
              <a:gd name="adj" fmla="val 2198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01952"/>
            <a:ext cx="47228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 PEMBELAJARAN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140964"/>
            <a:ext cx="47228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Menyebutkan tiga alasan IDTC memakai GitHub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Menyebutkan tiga hal yang bisa dilakukan tanpa kemampuan pemrograman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Menemukan handbook Pokja sendiri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7356" y="1691640"/>
            <a:ext cx="5271516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69964" y="1901952"/>
            <a:ext cx="47228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POKOK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569964" y="2912364"/>
            <a:ext cx="47228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 kolaborasi lewat WhatsApp dan surel: versi tercecer, keputusan hilang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= lemari arsip bersama yang mencatat siapa mengubah apa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organisasi idtc-id: handbook, repo keluaran, situs, papan capaian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Sebagian besar isi repo adalah dokumen, bukan kode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&amp; yang perlu diwaspadai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108924" cy="1874520"/>
          </a:xfrm>
          <a:prstGeom prst="roundRect">
            <a:avLst>
              <a:gd name="adj" fmla="val 4878"/>
            </a:avLst>
          </a:prstGeom>
          <a:solidFill>
            <a:srgbClr val="EDF4FF"/>
          </a:solidFill>
          <a:ln w="12700">
            <a:solidFill>
              <a:srgbClr val="CBDD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883664"/>
            <a:ext cx="5560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157984"/>
            <a:ext cx="55602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github.com/idtc-id, temukan handbook Pokja sendiri, buka satu dokumen di dalamnya.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6108924" cy="2103120"/>
          </a:xfrm>
          <a:prstGeom prst="roundRect">
            <a:avLst>
              <a:gd name="adj" fmla="val 4348"/>
            </a:avLst>
          </a:prstGeom>
          <a:solidFill>
            <a:srgbClr val="FFF4EC"/>
          </a:solidFill>
          <a:ln w="12700">
            <a:solidFill>
              <a:srgbClr val="F5D6C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31920"/>
            <a:ext cx="5560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UMUM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4224528"/>
            <a:ext cx="55602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Mengira harus memasang aplikasi dulu — tegaskan semua lewat browser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069044" y="1691640"/>
            <a:ext cx="447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YANG DIBUTUHKAN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069044" y="202996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7069044" y="210312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197060" y="266090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organisasi idtc-id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69044" y="312724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7069044" y="320040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197060" y="375818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Daftar repo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69044" y="422452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7069044" y="429768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7197060" y="485546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 satu handbook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Membuat Akun dan Mengamankannya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 — Pengamat  ·  20 menit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271516" cy="4160520"/>
          </a:xfrm>
          <a:prstGeom prst="roundRect">
            <a:avLst>
              <a:gd name="adj" fmla="val 2198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01952"/>
            <a:ext cx="47228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 PEMBELAJARAN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140964"/>
            <a:ext cx="47228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Memiliki akun GitHub aktif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Mengaktifkan autentikasi dua faktor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Bergabung ke organisasi idtc-id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7356" y="1691640"/>
            <a:ext cx="5271516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69964" y="1901952"/>
            <a:ext cx="47228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POKOK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569964" y="2912364"/>
            <a:ext cx="47228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Pendaftaran dan verifikasi surel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faktor wajib bagi anggota kementerian/BUMN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Memilih aplikasi autentikator &amp; menyimpan kode cadangan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Kirim username ke pengurus Pokja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&amp; yang perlu diwaspadai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108924" cy="1874520"/>
          </a:xfrm>
          <a:prstGeom prst="roundRect">
            <a:avLst>
              <a:gd name="adj" fmla="val 4878"/>
            </a:avLst>
          </a:prstGeom>
          <a:solidFill>
            <a:srgbClr val="EDF4FF"/>
          </a:solidFill>
          <a:ln w="12700">
            <a:solidFill>
              <a:srgbClr val="CBDD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883664"/>
            <a:ext cx="5560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157984"/>
            <a:ext cx="55602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Aktifkan autentikasi dua faktor, simpan kode cadangan, kirim username ke pengurus.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6108924" cy="2103120"/>
          </a:xfrm>
          <a:prstGeom prst="roundRect">
            <a:avLst>
              <a:gd name="adj" fmla="val 4348"/>
            </a:avLst>
          </a:prstGeom>
          <a:solidFill>
            <a:srgbClr val="FFF4EC"/>
          </a:solidFill>
          <a:ln w="12700">
            <a:solidFill>
              <a:srgbClr val="F5D6C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31920"/>
            <a:ext cx="5560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UMUM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4224528"/>
            <a:ext cx="55602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cadangan tak disimpan lalu ponsel hilang — akun tak bisa dipulihkan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 salah ketik — undangan tak sampai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069044" y="1691640"/>
            <a:ext cx="447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YANG DIBUTUHKAN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069044" y="202996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7069044" y="210312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197060" y="266090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pendaftaran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69044" y="312724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7069044" y="320040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197060" y="375818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Setelan Password and authentication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69044" y="422452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7069044" y="429768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7197060" y="485546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Layar kode cadangan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69044" y="532180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7069044" y="539496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197060" y="595274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Surel undangan organisasi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Menjelajah Repositori IDTC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 — Pengamat  ·  20 menit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271516" cy="4160520"/>
          </a:xfrm>
          <a:prstGeom prst="roundRect">
            <a:avLst>
              <a:gd name="adj" fmla="val 2198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01952"/>
            <a:ext cx="47228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 PEMBELAJARAN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140964"/>
            <a:ext cx="47228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Menjelaskan fungsi tab Code, Issues, Discussions, Projects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Menemukan dokumen tertentu di repo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Membaca riwayat perubahan berkas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7356" y="1691640"/>
            <a:ext cx="5271516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69964" y="1901952"/>
            <a:ext cx="47228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POKOK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569964" y="2912364"/>
            <a:ext cx="47228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 repo: README, folder, berkas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Fungsi tiap tab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Pencarian di dalam repo (tombol /)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Riwayat perubahan lewat History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&amp; yang perlu diwaspadai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108924" cy="1874520"/>
          </a:xfrm>
          <a:prstGeom prst="roundRect">
            <a:avLst>
              <a:gd name="adj" fmla="val 4878"/>
            </a:avLst>
          </a:prstGeom>
          <a:solidFill>
            <a:srgbClr val="EDF4FF"/>
          </a:solidFill>
          <a:ln w="12700">
            <a:solidFill>
              <a:srgbClr val="CBDD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883664"/>
            <a:ext cx="5560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157984"/>
            <a:ext cx="55602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Temukan dokumen kebijakan data di pokja2-handbook, lihat siapa terakhir mengubahnya.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6108924" cy="2103120"/>
          </a:xfrm>
          <a:prstGeom prst="roundRect">
            <a:avLst>
              <a:gd name="adj" fmla="val 4348"/>
            </a:avLst>
          </a:prstGeom>
          <a:solidFill>
            <a:srgbClr val="FFF4EC"/>
          </a:solidFill>
          <a:ln w="12700">
            <a:solidFill>
              <a:srgbClr val="F5D6C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31920"/>
            <a:ext cx="5560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UMUM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4224528"/>
            <a:ext cx="55602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Tersesat di daftar berkas — ajarkan pakai pencarian lebih dulu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069044" y="1691640"/>
            <a:ext cx="447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YANG DIBUTUHKAN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069044" y="202996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7069044" y="210312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197060" y="266090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 repo beserta tab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69044" y="312724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7069044" y="320040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197060" y="375818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Kotak pencarian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69044" y="422452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7069044" y="429768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7197060" y="485546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riwayat perubahan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Bertanya dan Berdiskusi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— Peserta  ·  20 menit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271516" cy="4160520"/>
          </a:xfrm>
          <a:prstGeom prst="roundRect">
            <a:avLst>
              <a:gd name="adj" fmla="val 2198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01952"/>
            <a:ext cx="47228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 PEMBELAJARAN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369564"/>
            <a:ext cx="47228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Membuka Discussion baru pada kategori tepat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Membalas &amp; menandai jawaban yang menyelesaikan pertanyaan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7356" y="1691640"/>
            <a:ext cx="5271516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69964" y="1901952"/>
            <a:ext cx="47228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F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POKOK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569964" y="3140964"/>
            <a:ext cx="47228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Beda Discussions vs Issues: percakapan terbuka vs pekerjaan konkret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 yang tersedia di tiap handbook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Etika: bahasa, mention secukupnya, tanpa data sensitif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&amp; yang perlu diwaspadai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108924" cy="1874520"/>
          </a:xfrm>
          <a:prstGeom prst="roundRect">
            <a:avLst>
              <a:gd name="adj" fmla="val 4878"/>
            </a:avLst>
          </a:prstGeom>
          <a:solidFill>
            <a:srgbClr val="EDF4FF"/>
          </a:solidFill>
          <a:ln w="12700">
            <a:solidFill>
              <a:srgbClr val="CBDD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883664"/>
            <a:ext cx="5560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157984"/>
            <a:ext cx="55602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Perkenalkan diri pada kategori perkenalan di handbook Pokja sendiri.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6108924" cy="2103120"/>
          </a:xfrm>
          <a:prstGeom prst="roundRect">
            <a:avLst>
              <a:gd name="adj" fmla="val 4348"/>
            </a:avLst>
          </a:prstGeom>
          <a:solidFill>
            <a:srgbClr val="FFF4EC"/>
          </a:solidFill>
          <a:ln w="12700">
            <a:solidFill>
              <a:srgbClr val="F5D6C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31920"/>
            <a:ext cx="5560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UMUM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4224528"/>
            <a:ext cx="55602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Pertanyaan dibuat sebagai Issue padahal seharusnya Discussion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069044" y="1691640"/>
            <a:ext cx="447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YANG DIBUTUHKAN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069044" y="202996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7069044" y="210312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197060" y="266090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Discussions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69044" y="312724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7069044" y="320040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197060" y="375818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Formulir New discussion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69044" y="422452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7069044" y="429768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7197060" y="485546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Utas dengan jawaban tertandai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Mencatat Tugas dan Usulan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— Peserta  ·  25 menit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271516" cy="4160520"/>
          </a:xfrm>
          <a:prstGeom prst="roundRect">
            <a:avLst>
              <a:gd name="adj" fmla="val 2198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01952"/>
            <a:ext cx="47228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 PEMBELAJARAN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140964"/>
            <a:ext cx="47228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Membuat Issue memakai template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Memasang label yang tepat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Menutup Issue yang sudah selesai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7356" y="1691640"/>
            <a:ext cx="5271516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69964" y="1901952"/>
            <a:ext cx="47228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F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POKOK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569964" y="2912364"/>
            <a:ext cx="47228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 itu Issue dan kapan dipakai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Issue yang tersedia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standar IDTC dan artinya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Menugaskan orang &amp; menutup Issue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&amp; yang perlu diwaspadai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108924" cy="1874520"/>
          </a:xfrm>
          <a:prstGeom prst="roundRect">
            <a:avLst>
              <a:gd name="adj" fmla="val 4878"/>
            </a:avLst>
          </a:prstGeom>
          <a:solidFill>
            <a:srgbClr val="EDF4FF"/>
          </a:solidFill>
          <a:ln w="12700">
            <a:solidFill>
              <a:srgbClr val="CBDD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883664"/>
            <a:ext cx="5560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157984"/>
            <a:ext cx="55602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 satu Issue usulan di latihan-github, beri label, lalu tutup kembali.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6108924" cy="2103120"/>
          </a:xfrm>
          <a:prstGeom prst="roundRect">
            <a:avLst>
              <a:gd name="adj" fmla="val 4348"/>
            </a:avLst>
          </a:prstGeom>
          <a:solidFill>
            <a:srgbClr val="FFF4EC"/>
          </a:solidFill>
          <a:ln w="12700">
            <a:solidFill>
              <a:srgbClr val="F5D6C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31920"/>
            <a:ext cx="5560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UMUM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4224528"/>
            <a:ext cx="55602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Judul terlalu umum seperti “masalah” — ajarkan judul: objek + tindakan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069044" y="1691640"/>
            <a:ext cx="447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YANG DIBUTUHKAN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069044" y="202996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7069044" y="210312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197060" y="266090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Tombol New issue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69044" y="312724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7069044" y="320040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197060" y="375818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Pilihan template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69044" y="422452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7069044" y="429768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7197060" y="485546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label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69044" y="532180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7069044" y="539496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197060" y="595274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yang sudah tertutup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M9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Aturan Main: Data, Lisensi, Keamanan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07008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tingkat  ·  20 menit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271516" cy="4160520"/>
          </a:xfrm>
          <a:prstGeom prst="roundRect">
            <a:avLst>
              <a:gd name="adj" fmla="val 2198"/>
            </a:avLst>
          </a:prstGeom>
          <a:solidFill>
            <a:srgbClr val="F3F7FC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01952"/>
            <a:ext cx="47228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 PEMBELAJARAN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140964"/>
            <a:ext cx="47228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Memilah data terbuka, terbatas, rahasia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Menyebutkan apa yang tak boleh diunggah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Mengetahui langkah bila data sensitif terlanjur terunggah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7356" y="1691640"/>
            <a:ext cx="5271516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DCE5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69964" y="1901952"/>
            <a:ext cx="47228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POKOK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569964" y="2683764"/>
            <a:ext cx="472287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kelas data &amp; contohnya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Larangan mutlak: data pribadi, kredensial, data mitra tanpa izin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Batas ukuran berkas 50 MB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Lisensi: dokumen CC BY 4.0, kode MIT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darurat — hapus berkas saja tak cukup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M9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 &amp; yang perlu diwaspadai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108924" cy="1874520"/>
          </a:xfrm>
          <a:prstGeom prst="roundRect">
            <a:avLst>
              <a:gd name="adj" fmla="val 4878"/>
            </a:avLst>
          </a:prstGeom>
          <a:solidFill>
            <a:srgbClr val="EDF4FF"/>
          </a:solidFill>
          <a:ln w="12700">
            <a:solidFill>
              <a:srgbClr val="CBDD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883664"/>
            <a:ext cx="5560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E6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LATIHAN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157984"/>
            <a:ext cx="55602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Lima skenario singkat: peserta memutuskan boleh/tidak diunggah dan menjelaskan alasannya.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6108924" cy="2103120"/>
          </a:xfrm>
          <a:prstGeom prst="roundRect">
            <a:avLst>
              <a:gd name="adj" fmla="val 4348"/>
            </a:avLst>
          </a:prstGeom>
          <a:solidFill>
            <a:srgbClr val="FFF4EC"/>
          </a:solidFill>
          <a:ln w="12700">
            <a:solidFill>
              <a:srgbClr val="F5D6C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31920"/>
            <a:ext cx="55602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6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UMUM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4224528"/>
            <a:ext cx="55602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Mengira repo privat aman untuk data rahasia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069044" y="1691640"/>
            <a:ext cx="447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YANG DIBUTUHKAN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069044" y="202996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7069044" y="210312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197060" y="266090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 klasifikasi data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69044" y="3127248"/>
            <a:ext cx="447982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DCE5F0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7069044" y="3200400"/>
            <a:ext cx="44798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9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197060" y="3758184"/>
            <a:ext cx="42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berkas katalog data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4206240"/>
            <a:ext cx="5486400" cy="5486400"/>
          </a:xfrm>
          <a:prstGeom prst="ellipse">
            <a:avLst/>
          </a:prstGeom>
          <a:solidFill>
            <a:srgbClr val="4FD6E8">
              <a:alpha val="1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463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Sampai di sini dulu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31720"/>
            <a:ext cx="7772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D8E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 sudah punya akun aktif dan bergabung ke idtc-id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D8E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 tahu beda Discussions dan Issues, dan kapan memakai masing-masing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D8E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 tahu tiga kelas data dan apa yang tidak boleh diunggah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489204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0F2A4D"/>
          </a:solidFill>
          <a:ln w="12700">
            <a:solidFill>
              <a:srgbClr val="1C3C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5074920"/>
            <a:ext cx="10360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F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SELANJUTNYA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5321808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 2 (M6–M8) melanjutkan ke mengubah dokumen, menelaah Pull Request, dan memantau papan capaian — untuk yang akan aktif menyusun dokumen.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Digital Twin Community  ·  idtc-id.github.io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Pelatihan GitHub IDTC — Sesi 1</dc:title>
  <dc:subject>PptxGenJS Presentation</dc:subject>
  <dc:creator>Indonesia Digital Twin Community</dc:creator>
  <cp:lastModifiedBy>Indonesia Digital Twin Community</cp:lastModifiedBy>
  <cp:revision>1</cp:revision>
  <dcterms:created xsi:type="dcterms:W3CDTF">2026-09-27T09:57:12Z</dcterms:created>
  <dcterms:modified xsi:type="dcterms:W3CDTF">2026-09-27T09:57:12Z</dcterms:modified>
</cp:coreProperties>
</file>