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Ingatkan peserta menyalakan laptop dan sudah punya akun GitHub (M2) sebelum sesi dimulai.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 waktu ± 75 menit. Sisakan jeda 5-10 menit untuk pertanyaan di setiap dua modul.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Prasyarat: modul sebelumnya. Rujuk manual lengkap di panduan-github/modul/M6-*.md.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Tekankan: main dilindungi, jadi satu-satunya pilihan yang berhasil adalah membuat salinan kerja.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Latihan dikerjakan di repo latihan-github, bukan di repo sungguhan.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Prasyarat: modul sebelumnya. Rujuk manual lengkap di panduan-github/modul/M7-*.md.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Latihan dikerjakan di repo latihan-github, bukan di repo sungguhan.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Prasyarat: modul sebelumnya. Rujuk manual lengkap di panduan-github/modul/M8-*.md.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Latihan dikerjakan di repo latihan-github, bukan di repo sungguhan.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Prasyarat: modul sebelumnya. Rujuk manual lengkap di panduan-github/modul/M9-*.md.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Latihan dikerjakan di repo latihan-github, bukan di repo sungguhan.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1737360"/>
            <a:ext cx="5669280" cy="5669280"/>
          </a:xfrm>
          <a:prstGeom prst="ellipse">
            <a:avLst/>
          </a:prstGeom>
          <a:solidFill>
            <a:srgbClr val="1E6FD9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3291840"/>
            <a:ext cx="3840480" cy="3840480"/>
          </a:xfrm>
          <a:prstGeom prst="ellipse">
            <a:avLst/>
          </a:prstGeom>
          <a:solidFill>
            <a:srgbClr val="4FD6E8">
              <a:alpha val="14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60020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INDONESIA DIGITAL TWIN COMMUNITY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11680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Pelatihan GitHub IDTC — Sesi 2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88920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Mengubah dokumen, menelaah, dan memantau capaian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38328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perlu kemampuan pemrograman — seluruh materi dikerjakan lewat browser.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98932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M6–M8 dan M9  ·  ± 95 menit  ·  Pokja 3 SDM &amp; Ekosistem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sesi ini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3483864" cy="4023360"/>
          </a:xfrm>
          <a:prstGeom prst="roundRect">
            <a:avLst>
              <a:gd name="adj" fmla="val 2625"/>
            </a:avLst>
          </a:prstGeom>
          <a:solidFill>
            <a:srgbClr val="F3F7FC"/>
          </a:solidFill>
          <a:ln w="12700">
            <a:solidFill>
              <a:srgbClr val="DCE5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" y="1938528"/>
            <a:ext cx="457200" cy="45720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77824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59536" y="2542032"/>
            <a:ext cx="3044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Mengubah Dokumen Lewat Browser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5394960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6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menit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52544" y="1691640"/>
            <a:ext cx="3483864" cy="4023360"/>
          </a:xfrm>
          <a:prstGeom prst="roundRect">
            <a:avLst>
              <a:gd name="adj" fmla="val 2625"/>
            </a:avLst>
          </a:prstGeom>
          <a:solidFill>
            <a:srgbClr val="F3F7FC"/>
          </a:solidFill>
          <a:ln w="12700">
            <a:solidFill>
              <a:srgbClr val="DCE5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90288" y="1938528"/>
            <a:ext cx="457200" cy="457200"/>
          </a:xfrm>
          <a:prstGeom prst="ellipse">
            <a:avLst/>
          </a:prstGeom>
          <a:solidFill>
            <a:srgbClr val="6B4FD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90288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542032"/>
            <a:ext cx="3044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Menelaah dan Menggabungkan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5394960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4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menit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65008" y="1691640"/>
            <a:ext cx="3483864" cy="4023360"/>
          </a:xfrm>
          <a:prstGeom prst="roundRect">
            <a:avLst>
              <a:gd name="adj" fmla="val 2625"/>
            </a:avLst>
          </a:prstGeom>
          <a:solidFill>
            <a:srgbClr val="F3F7FC"/>
          </a:solidFill>
          <a:ln w="12700">
            <a:solidFill>
              <a:srgbClr val="DCE5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02752" y="1938528"/>
            <a:ext cx="457200" cy="457200"/>
          </a:xfrm>
          <a:prstGeom prst="ellipse">
            <a:avLst/>
          </a:prstGeom>
          <a:solidFill>
            <a:srgbClr val="6B4FD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02752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84464" y="2542032"/>
            <a:ext cx="3044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Memantau Capaian Lewat Project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8284464" y="5394960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4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menit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M6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Mengubah Dokumen Lewat Browser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908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— Kontributor  ·  30 menit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271516" cy="4160520"/>
          </a:xfrm>
          <a:prstGeom prst="roundRect">
            <a:avLst>
              <a:gd name="adj" fmla="val 2198"/>
            </a:avLst>
          </a:prstGeom>
          <a:solidFill>
            <a:srgbClr val="F3F7FC"/>
          </a:solidFill>
          <a:ln w="12700">
            <a:solidFill>
              <a:srgbClr val="DCE5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901952"/>
            <a:ext cx="47228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TUJUAN PEMBELAJARAN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3140964"/>
            <a:ext cx="47228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Mengubah satu berkas Markdown lewat browser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Mengajukan perubahan sebagai Pull Request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Menjelaskan mengapa perubahan tak langsung masuk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77356" y="1691640"/>
            <a:ext cx="5271516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DCE5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69964" y="1901952"/>
            <a:ext cx="47228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6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POKOK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569964" y="2683764"/>
            <a:ext cx="472287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Ikon pensil dan mode Preview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Menyimpan sebagai salinan kerja, bukan langsung ke main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Mengapa main dilindungi &amp; apa akibatnya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Menulis judul &amp; keterangan PR yang jelas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Menanggapi komentar penelaah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M6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mengubah dokumen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908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Lima langkah dari klik pensil sampai menunggu telaah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908792" cy="786384"/>
          </a:xfrm>
          <a:prstGeom prst="roundRect">
            <a:avLst>
              <a:gd name="adj" fmla="val 11628"/>
            </a:avLst>
          </a:prstGeom>
          <a:solidFill>
            <a:srgbClr val="F3F7FC"/>
          </a:solidFill>
          <a:ln w="12700">
            <a:solidFill>
              <a:srgbClr val="DCE5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911096"/>
            <a:ext cx="438912" cy="438912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191109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1865376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Klik ikon pensil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157984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pada berkas yang ingin diubah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2633472"/>
            <a:ext cx="10908792" cy="786384"/>
          </a:xfrm>
          <a:prstGeom prst="roundRect">
            <a:avLst>
              <a:gd name="adj" fmla="val 11628"/>
            </a:avLst>
          </a:prstGeom>
          <a:solidFill>
            <a:srgbClr val="F3F7FC"/>
          </a:solidFill>
          <a:ln w="12700">
            <a:solidFill>
              <a:srgbClr val="DCE5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807208"/>
            <a:ext cx="438912" cy="438912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28072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2761488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Ubah lalu tekan Preview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3054096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untuk memeriksa hasil format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529584"/>
            <a:ext cx="10908792" cy="786384"/>
          </a:xfrm>
          <a:prstGeom prst="roundRect">
            <a:avLst>
              <a:gd name="adj" fmla="val 11628"/>
            </a:avLst>
          </a:prstGeom>
          <a:solidFill>
            <a:srgbClr val="F3F7FC"/>
          </a:solidFill>
          <a:ln w="12700">
            <a:solidFill>
              <a:srgbClr val="DCE5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3703320"/>
            <a:ext cx="438912" cy="438912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3703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365760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Pilih “Create a new branch…”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3950208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bukan simpan langsung ke main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4425696"/>
            <a:ext cx="10908792" cy="786384"/>
          </a:xfrm>
          <a:prstGeom prst="roundRect">
            <a:avLst>
              <a:gd name="adj" fmla="val 11628"/>
            </a:avLst>
          </a:prstGeom>
          <a:solidFill>
            <a:srgbClr val="F3F7FC"/>
          </a:solidFill>
          <a:ln w="12700">
            <a:solidFill>
              <a:srgbClr val="DCE5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4599432"/>
            <a:ext cx="438912" cy="438912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400" y="45994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600200" y="4553712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judul &amp; keterangan PR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600200" y="48463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jelaskan apa dan mengapa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5321808"/>
            <a:ext cx="10908792" cy="786384"/>
          </a:xfrm>
          <a:prstGeom prst="roundRect">
            <a:avLst>
              <a:gd name="adj" fmla="val 11628"/>
            </a:avLst>
          </a:prstGeom>
          <a:solidFill>
            <a:srgbClr val="F3F7FC"/>
          </a:solidFill>
          <a:ln w="12700">
            <a:solidFill>
              <a:srgbClr val="DCE5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4400" y="5495544"/>
            <a:ext cx="438912" cy="438912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14400" y="54955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600200" y="5449824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Klik Create pull request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1600200" y="5742432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lalu tunggu telaah (M7)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M6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&amp; yang perlu diwaspadai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108924" cy="1874520"/>
          </a:xfrm>
          <a:prstGeom prst="roundRect">
            <a:avLst>
              <a:gd name="adj" fmla="val 4878"/>
            </a:avLst>
          </a:prstGeom>
          <a:solidFill>
            <a:srgbClr val="EDF4FF"/>
          </a:solidFill>
          <a:ln w="12700">
            <a:solidFill>
              <a:srgbClr val="CBDD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1883664"/>
            <a:ext cx="5560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2157984"/>
            <a:ext cx="55602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Perbaiki satu kalimat di latihan-github dan ajukan sebagai Pull Request.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749040"/>
            <a:ext cx="6108924" cy="2103120"/>
          </a:xfrm>
          <a:prstGeom prst="roundRect">
            <a:avLst>
              <a:gd name="adj" fmla="val 4348"/>
            </a:avLst>
          </a:prstGeom>
          <a:solidFill>
            <a:srgbClr val="FFF4EC"/>
          </a:solidFill>
          <a:ln w="12700">
            <a:solidFill>
              <a:srgbClr val="F5D6C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931920"/>
            <a:ext cx="5560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6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KESALAHAN UMUM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4224528"/>
            <a:ext cx="55602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Memilih simpan langsung ke main lalu ditolak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Judul PR kosong atau teks bawaan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Lupa tekan Preview — format berantakan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069044" y="1691640"/>
            <a:ext cx="447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TANGKAPAN LAYAR YANG DIBUTUHKAN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069044" y="2029968"/>
            <a:ext cx="447982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DCE5F0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7069044" y="2103120"/>
            <a:ext cx="44798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197060" y="2660904"/>
            <a:ext cx="4223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Ikon pensil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69044" y="3127248"/>
            <a:ext cx="447982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DCE5F0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7069044" y="3200400"/>
            <a:ext cx="44798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7197060" y="3758184"/>
            <a:ext cx="4223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Preview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69044" y="4224528"/>
            <a:ext cx="447982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DCE5F0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7069044" y="4297680"/>
            <a:ext cx="44798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7197060" y="4855464"/>
            <a:ext cx="4223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 Commit changes + buat salinan kerja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69044" y="5321808"/>
            <a:ext cx="447982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DCE5F0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7069044" y="5394960"/>
            <a:ext cx="44798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7197060" y="5952744"/>
            <a:ext cx="4223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Formulir Pull Request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M7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Menelaah dan Menggabungkan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908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 — Pengelola  ·  25 menit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271516" cy="4160520"/>
          </a:xfrm>
          <a:prstGeom prst="roundRect">
            <a:avLst>
              <a:gd name="adj" fmla="val 2198"/>
            </a:avLst>
          </a:prstGeom>
          <a:solidFill>
            <a:srgbClr val="F3F7FC"/>
          </a:solidFill>
          <a:ln w="12700">
            <a:solidFill>
              <a:srgbClr val="DCE5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901952"/>
            <a:ext cx="47228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TUJUAN PEMBELAJARAN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3140964"/>
            <a:ext cx="47228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Memberi komentar pada baris tertentu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Menyetujui atau meminta perbaikan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Menggabungkan sesuai aturan IDTC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77356" y="1691640"/>
            <a:ext cx="5271516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DCE5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69964" y="1901952"/>
            <a:ext cx="47228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4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POKOK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569964" y="2683764"/>
            <a:ext cx="472287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Membaca tab Files changed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Komentar per baris &amp; saran perubahan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Beda Approve vs Request changes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approval umum, 2 untuk standar-dan-panduan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Squash and merge &amp; alasannya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M7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&amp; yang perlu diwaspadai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108924" cy="1874520"/>
          </a:xfrm>
          <a:prstGeom prst="roundRect">
            <a:avLst>
              <a:gd name="adj" fmla="val 4878"/>
            </a:avLst>
          </a:prstGeom>
          <a:solidFill>
            <a:srgbClr val="EDF4FF"/>
          </a:solidFill>
          <a:ln w="12700">
            <a:solidFill>
              <a:srgbClr val="CBDD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1883664"/>
            <a:ext cx="5560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2157984"/>
            <a:ext cx="55602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Telaah PR rekan di latihan-github, beri satu komentar baris, lalu gabungkan.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749040"/>
            <a:ext cx="6108924" cy="2103120"/>
          </a:xfrm>
          <a:prstGeom prst="roundRect">
            <a:avLst>
              <a:gd name="adj" fmla="val 4348"/>
            </a:avLst>
          </a:prstGeom>
          <a:solidFill>
            <a:srgbClr val="FFF4EC"/>
          </a:solidFill>
          <a:ln w="12700">
            <a:solidFill>
              <a:srgbClr val="F5D6C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931920"/>
            <a:ext cx="5560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6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KESALAHAN UMUM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4224528"/>
            <a:ext cx="55602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Menyetujui tanpa membaca perubahan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Menggabungkan padahal percakapan belum selesai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069044" y="1691640"/>
            <a:ext cx="447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TANGKAPAN LAYAR YANG DIBUTUHKAN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069044" y="2029968"/>
            <a:ext cx="447982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DCE5F0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7069044" y="2103120"/>
            <a:ext cx="44798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197060" y="2660904"/>
            <a:ext cx="4223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Files changed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69044" y="3127248"/>
            <a:ext cx="447982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DCE5F0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7069044" y="3200400"/>
            <a:ext cx="44798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7197060" y="3758184"/>
            <a:ext cx="4223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Kotak komentar baris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69044" y="4224528"/>
            <a:ext cx="447982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DCE5F0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7069044" y="4297680"/>
            <a:ext cx="44798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7197060" y="4855464"/>
            <a:ext cx="4223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Review changes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69044" y="5321808"/>
            <a:ext cx="447982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DCE5F0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7069044" y="5394960"/>
            <a:ext cx="44798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7197060" y="5952744"/>
            <a:ext cx="4223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Tombol Squash and merge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M8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Memantau Capaian Lewat Project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908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 — Pengelola  ·  20 menit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271516" cy="4160520"/>
          </a:xfrm>
          <a:prstGeom prst="roundRect">
            <a:avLst>
              <a:gd name="adj" fmla="val 2198"/>
            </a:avLst>
          </a:prstGeom>
          <a:solidFill>
            <a:srgbClr val="F3F7FC"/>
          </a:solidFill>
          <a:ln w="12700">
            <a:solidFill>
              <a:srgbClr val="DCE5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901952"/>
            <a:ext cx="47228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TUJUAN PEMBELAJARAN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3140964"/>
            <a:ext cx="47228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Membaca papan Capaian IDTC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Menyaring kartu menurut Pokja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Memperbarui status kartu miliknya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77356" y="1691640"/>
            <a:ext cx="5271516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DCE5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69964" y="1901952"/>
            <a:ext cx="47228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4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POKOK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569964" y="2912364"/>
            <a:ext cx="472287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Papan Capaian IDTC 2026-2029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Field: Status, Pokja, Jenis, Target, Tahap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Tampilan Papan, Per Pokja, Linimasa, Butuh perhatian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Kartu = Issue: menutup Issue memindahkan kartunya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M8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&amp; yang perlu diwaspadai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108924" cy="1874520"/>
          </a:xfrm>
          <a:prstGeom prst="roundRect">
            <a:avLst>
              <a:gd name="adj" fmla="val 4878"/>
            </a:avLst>
          </a:prstGeom>
          <a:solidFill>
            <a:srgbClr val="EDF4FF"/>
          </a:solidFill>
          <a:ln w="12700">
            <a:solidFill>
              <a:srgbClr val="CBDD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1883664"/>
            <a:ext cx="5560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2157984"/>
            <a:ext cx="55602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papan capaian, saring menurut Pokja sendiri, perbarui satu kartu.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749040"/>
            <a:ext cx="6108924" cy="2103120"/>
          </a:xfrm>
          <a:prstGeom prst="roundRect">
            <a:avLst>
              <a:gd name="adj" fmla="val 4348"/>
            </a:avLst>
          </a:prstGeom>
          <a:solidFill>
            <a:srgbClr val="FFF4EC"/>
          </a:solidFill>
          <a:ln w="12700">
            <a:solidFill>
              <a:srgbClr val="F5D6C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931920"/>
            <a:ext cx="5560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6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KESALAHAN UMUM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4224528"/>
            <a:ext cx="55602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Mengubah kartu tanpa memperbarui Issue aslinya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069044" y="1691640"/>
            <a:ext cx="447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TANGKAPAN LAYAR YANG DIBUTUHKAN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069044" y="2029968"/>
            <a:ext cx="447982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DCE5F0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7069044" y="2103120"/>
            <a:ext cx="44798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197060" y="2660904"/>
            <a:ext cx="4223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Tampilan papan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69044" y="3127248"/>
            <a:ext cx="447982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DCE5F0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7069044" y="3200400"/>
            <a:ext cx="44798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7197060" y="3758184"/>
            <a:ext cx="4223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Tampilan tabel per Pokja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69044" y="4224528"/>
            <a:ext cx="447982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DCE5F0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7069044" y="4297680"/>
            <a:ext cx="44798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7197060" y="4855464"/>
            <a:ext cx="4223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detail satu kartu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M9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Aturan Main: Data, Lisensi, Keamanan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908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Semua tingkat  ·  20 menit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271516" cy="4160520"/>
          </a:xfrm>
          <a:prstGeom prst="roundRect">
            <a:avLst>
              <a:gd name="adj" fmla="val 2198"/>
            </a:avLst>
          </a:prstGeom>
          <a:solidFill>
            <a:srgbClr val="F3F7FC"/>
          </a:solidFill>
          <a:ln w="12700">
            <a:solidFill>
              <a:srgbClr val="DCE5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901952"/>
            <a:ext cx="47228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TUJUAN PEMBELAJARAN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3140964"/>
            <a:ext cx="47228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Memilah data terbuka, terbatas, rahasia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Menyebutkan apa yang tak boleh diunggah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Mengetahui langkah bila data sensitif terlanjur terunggah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77356" y="1691640"/>
            <a:ext cx="5271516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DCE5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69964" y="1901952"/>
            <a:ext cx="47228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POKOK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569964" y="2683764"/>
            <a:ext cx="472287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Tiga kelas data &amp; contohnya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Larangan mutlak: data pribadi, kredensial, data mitra tanpa izin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Batas ukuran berkas 50 MB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Lisensi: dokumen CC BY 4.0, kode MIT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Langkah darurat — hapus berkas saja tak cukup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M9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&amp; yang perlu diwaspadai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108924" cy="1874520"/>
          </a:xfrm>
          <a:prstGeom prst="roundRect">
            <a:avLst>
              <a:gd name="adj" fmla="val 4878"/>
            </a:avLst>
          </a:prstGeom>
          <a:solidFill>
            <a:srgbClr val="EDF4FF"/>
          </a:solidFill>
          <a:ln w="12700">
            <a:solidFill>
              <a:srgbClr val="CBDD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1883664"/>
            <a:ext cx="5560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2157984"/>
            <a:ext cx="55602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Lima skenario singkat: peserta memutuskan boleh/tidak diunggah dan menjelaskan alasannya.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749040"/>
            <a:ext cx="6108924" cy="2103120"/>
          </a:xfrm>
          <a:prstGeom prst="roundRect">
            <a:avLst>
              <a:gd name="adj" fmla="val 4348"/>
            </a:avLst>
          </a:prstGeom>
          <a:solidFill>
            <a:srgbClr val="FFF4EC"/>
          </a:solidFill>
          <a:ln w="12700">
            <a:solidFill>
              <a:srgbClr val="F5D6C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931920"/>
            <a:ext cx="5560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6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KESALAHAN UMUM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4224528"/>
            <a:ext cx="55602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Mengira repo privat aman untuk data rahasia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069044" y="1691640"/>
            <a:ext cx="447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TANGKAPAN LAYAR YANG DIBUTUHKAN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069044" y="2029968"/>
            <a:ext cx="447982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DCE5F0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7069044" y="2103120"/>
            <a:ext cx="44798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197060" y="2660904"/>
            <a:ext cx="4223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 klasifikasi data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69044" y="3127248"/>
            <a:ext cx="447982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DCE5F0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7069044" y="3200400"/>
            <a:ext cx="44798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7197060" y="3758184"/>
            <a:ext cx="4223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Contoh berkas katalog data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4206240"/>
            <a:ext cx="5486400" cy="5486400"/>
          </a:xfrm>
          <a:prstGeom prst="ellipse">
            <a:avLst/>
          </a:prstGeom>
          <a:solidFill>
            <a:srgbClr val="4FD6E8">
              <a:alpha val="12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4630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Sampai di sini dulu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31720"/>
            <a:ext cx="7772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D8E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Anda bisa mengubah dokumen lewat browser dan mengajukannya sebagai Pull Request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D8E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Anda bisa menelaah, memberi komentar baris, dan menggabungkan sesuai aturan IDTC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D8E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Anda bisa membaca dan memperbarui papan Capaian IDTC 2026-2029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4892040"/>
            <a:ext cx="10908792" cy="1051560"/>
          </a:xfrm>
          <a:prstGeom prst="roundRect">
            <a:avLst>
              <a:gd name="adj" fmla="val 8696"/>
            </a:avLst>
          </a:prstGeom>
          <a:solidFill>
            <a:srgbClr val="0F2A4D"/>
          </a:solidFill>
          <a:ln w="12700">
            <a:solidFill>
              <a:srgbClr val="1C3C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5074920"/>
            <a:ext cx="10360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4F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SELANJUTNYA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5321808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Praktikkan di repo latihan-github dulu sebelum menyentuh repo sungguhan. Pertanyaan lanjutan: kategori Tanya jawab di handbook Pokja Anda.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Indonesia Digital Twin Community  ·  idtc-id.github.io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Pelatihan GitHub IDTC — Sesi 2</dc:title>
  <dc:subject>PptxGenJS Presentation</dc:subject>
  <dc:creator>Indonesia Digital Twin Community</dc:creator>
  <cp:lastModifiedBy>Indonesia Digital Twin Community</cp:lastModifiedBy>
  <cp:revision>1</cp:revision>
  <dcterms:created xsi:type="dcterms:W3CDTF">2026-09-27T09:57:12Z</dcterms:created>
  <dcterms:modified xsi:type="dcterms:W3CDTF">2026-09-27T09:57:12Z</dcterms:modified>
</cp:coreProperties>
</file>